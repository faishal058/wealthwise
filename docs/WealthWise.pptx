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embeddedFontLst>
    <p:embeddedFont>
      <p:font typeface="Quattrocento"/>
      <p:regular r:id="rId22"/>
    </p:embeddedFont>
    <p:embeddedFont>
      <p:font typeface="Quattrocento"/>
      <p:regular r:id="rId23"/>
    </p:embeddedFont>
    <p:embeddedFont>
      <p:font typeface="Quattrocento"/>
      <p:regular r:id="rId24"/>
    </p:embeddedFont>
    <p:embeddedFont>
      <p:font typeface="Quattrocento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3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svg"/><Relationship Id="rId12" Type="http://schemas.openxmlformats.org/officeDocument/2006/relationships/slideLayout" Target="../slideLayouts/slideLayout12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aishal058/VTU_INTERN_2026_Team8_JAVA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6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233413"/>
            <a:ext cx="35203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WealthWise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1897782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 Intelligent Portfolio Analytics and Goal-Planning Platform for Indian Mutual Fund Investors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952577" y="2544812"/>
            <a:ext cx="46678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VTU Internship 2026 | Team 8 | Java Full Stack | May 2026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952577" y="2952452"/>
            <a:ext cx="466784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Team Members: Faishal Rahman Ansari (TL), Spoorthi V Gowda, Sushmitha S, Vishak Bharadwaj HN, Prakruthi L, Pallavi KS, Darshan Ganesh Naik, Iffah Aafreen, Manish Anand, Sai Sumanth C, Sai Vrushabh R, Preetham US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2724" y="471562"/>
            <a:ext cx="3710657" cy="263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Hidden Cost of Financial Blindness</a:t>
            </a:r>
            <a:endParaRPr lang="en-US" sz="1650" dirty="0"/>
          </a:p>
        </p:txBody>
      </p:sp>
      <p:sp>
        <p:nvSpPr>
          <p:cNvPr id="4" name="Shape 1"/>
          <p:cNvSpPr/>
          <p:nvPr/>
        </p:nvSpPr>
        <p:spPr>
          <a:xfrm>
            <a:off x="482724" y="815727"/>
            <a:ext cx="4749552" cy="895127"/>
          </a:xfrm>
          <a:prstGeom prst="roundRect">
            <a:avLst>
              <a:gd name="adj" fmla="val 1502"/>
            </a:avLst>
          </a:prstGeom>
          <a:solidFill>
            <a:srgbClr val="315251"/>
          </a:solidFill>
          <a:ln/>
        </p:spPr>
      </p:sp>
      <p:sp>
        <p:nvSpPr>
          <p:cNvPr id="5" name="Shape 2"/>
          <p:cNvSpPr/>
          <p:nvPr/>
        </p:nvSpPr>
        <p:spPr>
          <a:xfrm>
            <a:off x="572319" y="905321"/>
            <a:ext cx="268932" cy="268932"/>
          </a:xfrm>
          <a:prstGeom prst="roundRect">
            <a:avLst>
              <a:gd name="adj" fmla="val 21248600"/>
            </a:avLst>
          </a:prstGeom>
          <a:solidFill>
            <a:srgbClr val="EF9C8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286" y="979215"/>
            <a:ext cx="120997" cy="1209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2319" y="1227906"/>
            <a:ext cx="1130201" cy="131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Portfolio Fragmentation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72319" y="1391915"/>
            <a:ext cx="4570363" cy="22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 investor with SBI, HDFC, and Axis funds has no single dashboard showing total portfolio value, overall gain/loss, or combined risk exposure. Each AMC app shows only its own funds — creating dangerous blind spots.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482724" y="1764506"/>
            <a:ext cx="4749552" cy="1009799"/>
          </a:xfrm>
          <a:prstGeom prst="roundRect">
            <a:avLst>
              <a:gd name="adj" fmla="val 1332"/>
            </a:avLst>
          </a:prstGeom>
          <a:solidFill>
            <a:srgbClr val="315251"/>
          </a:solidFill>
          <a:ln/>
        </p:spPr>
      </p:sp>
      <p:sp>
        <p:nvSpPr>
          <p:cNvPr id="10" name="Shape 6"/>
          <p:cNvSpPr/>
          <p:nvPr/>
        </p:nvSpPr>
        <p:spPr>
          <a:xfrm>
            <a:off x="572319" y="1854101"/>
            <a:ext cx="268932" cy="268932"/>
          </a:xfrm>
          <a:prstGeom prst="roundRect">
            <a:avLst>
              <a:gd name="adj" fmla="val 21248600"/>
            </a:avLst>
          </a:prstGeom>
          <a:solidFill>
            <a:srgbClr val="EF9C8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286" y="1927994"/>
            <a:ext cx="120997" cy="12099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72319" y="2176686"/>
            <a:ext cx="1664791" cy="131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Return Calculations Are Misleading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572319" y="2340694"/>
            <a:ext cx="4570363" cy="34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Platforms show absolute returns (e.g., "+22%") but never XIRR — the only mathematically accurate measure for SIP investors with irregular cashflows. An investor showing +22% absolute may actually have just 8% XIRR over 3 years.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482724" y="2827958"/>
            <a:ext cx="4749552" cy="895127"/>
          </a:xfrm>
          <a:prstGeom prst="roundRect">
            <a:avLst>
              <a:gd name="adj" fmla="val 1502"/>
            </a:avLst>
          </a:prstGeom>
          <a:solidFill>
            <a:srgbClr val="315251"/>
          </a:solidFill>
          <a:ln/>
        </p:spPr>
      </p:sp>
      <p:sp>
        <p:nvSpPr>
          <p:cNvPr id="15" name="Shape 10"/>
          <p:cNvSpPr/>
          <p:nvPr/>
        </p:nvSpPr>
        <p:spPr>
          <a:xfrm>
            <a:off x="572319" y="2917552"/>
            <a:ext cx="268932" cy="268932"/>
          </a:xfrm>
          <a:prstGeom prst="roundRect">
            <a:avLst>
              <a:gd name="adj" fmla="val 21248600"/>
            </a:avLst>
          </a:prstGeom>
          <a:solidFill>
            <a:srgbClr val="EF9C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6286" y="2991445"/>
            <a:ext cx="120997" cy="12099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2319" y="3240137"/>
            <a:ext cx="1054671" cy="131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Risk Is Invisible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572319" y="3404146"/>
            <a:ext cx="4570363" cy="22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 free tool tells a retail investor their portfolio's Sharpe Ratio, annualized volatility, or max drawdown. Without these metrics, investors unknowingly hold portfolios that take excessive risk for the returns they generate</a:t>
            </a:r>
            <a:endParaRPr lang="en-US" sz="700" dirty="0"/>
          </a:p>
        </p:txBody>
      </p:sp>
      <p:sp>
        <p:nvSpPr>
          <p:cNvPr id="19" name="Shape 13"/>
          <p:cNvSpPr/>
          <p:nvPr/>
        </p:nvSpPr>
        <p:spPr>
          <a:xfrm>
            <a:off x="482724" y="3776737"/>
            <a:ext cx="4749552" cy="895127"/>
          </a:xfrm>
          <a:prstGeom prst="roundRect">
            <a:avLst>
              <a:gd name="adj" fmla="val 1502"/>
            </a:avLst>
          </a:prstGeom>
          <a:solidFill>
            <a:srgbClr val="315251"/>
          </a:solidFill>
          <a:ln/>
        </p:spPr>
      </p:sp>
      <p:sp>
        <p:nvSpPr>
          <p:cNvPr id="20" name="Shape 14"/>
          <p:cNvSpPr/>
          <p:nvPr/>
        </p:nvSpPr>
        <p:spPr>
          <a:xfrm>
            <a:off x="572319" y="3866331"/>
            <a:ext cx="268932" cy="268932"/>
          </a:xfrm>
          <a:prstGeom prst="roundRect">
            <a:avLst>
              <a:gd name="adj" fmla="val 21248600"/>
            </a:avLst>
          </a:prstGeom>
          <a:solidFill>
            <a:srgbClr val="EF9C8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6286" y="3940225"/>
            <a:ext cx="120997" cy="12099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72319" y="4188916"/>
            <a:ext cx="1549152" cy="131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Goal Planning Uses Fantasy Math</a:t>
            </a:r>
            <a:endParaRPr lang="en-US" sz="800" dirty="0"/>
          </a:p>
        </p:txBody>
      </p:sp>
      <p:sp>
        <p:nvSpPr>
          <p:cNvPr id="23" name="Text 16"/>
          <p:cNvSpPr/>
          <p:nvPr/>
        </p:nvSpPr>
        <p:spPr>
          <a:xfrm>
            <a:off x="572319" y="4352925"/>
            <a:ext cx="4570363" cy="22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"Invest ₹10,000/month at 12% for 20 years = ₹1 Crore" — this flat-rate projection ignores market volatility entirely. In reality, outcomes range from ₹60L to ₹1.8Cr depending on sequence of returns.e.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538" y="398487"/>
            <a:ext cx="5269632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Intelligent Solution: Your Mutual Fund Command Center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4538" y="1536948"/>
            <a:ext cx="2728466" cy="447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WealthWise is a production-grade full-stack platform that consolidates all mutual fund investments into one intelligent dashboard, delivering real-time valuations, institutional-grade analytics, probabilistic goal planning, and automated tax tracking.</a:t>
            </a:r>
            <a:endParaRPr lang="en-US" sz="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2675" y="793849"/>
            <a:ext cx="3413447" cy="19342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538" y="2844775"/>
            <a:ext cx="176213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01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474538" y="2984971"/>
            <a:ext cx="4071491" cy="9525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7" name="Text 4"/>
          <p:cNvSpPr/>
          <p:nvPr/>
        </p:nvSpPr>
        <p:spPr>
          <a:xfrm>
            <a:off x="474538" y="3048074"/>
            <a:ext cx="1036811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Fragmented Data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74538" y="3208734"/>
            <a:ext cx="4071491" cy="11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Unified portfolio from CSV import + manual entry across any AMC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597896" y="2844775"/>
            <a:ext cx="176213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02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4597896" y="2984971"/>
            <a:ext cx="4071565" cy="9525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1" name="Text 8"/>
          <p:cNvSpPr/>
          <p:nvPr/>
        </p:nvSpPr>
        <p:spPr>
          <a:xfrm>
            <a:off x="4597896" y="3048074"/>
            <a:ext cx="1036811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Misleading Returns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597896" y="3208734"/>
            <a:ext cx="4071565" cy="11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Newton-Raphson XIRR engine with 1e-7 precision per fund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474538" y="3438674"/>
            <a:ext cx="176213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03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474538" y="3578870"/>
            <a:ext cx="4071491" cy="9525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5" name="Text 12"/>
          <p:cNvSpPr/>
          <p:nvPr/>
        </p:nvSpPr>
        <p:spPr>
          <a:xfrm>
            <a:off x="474538" y="3641973"/>
            <a:ext cx="1036811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Invisible Risk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4538" y="3802633"/>
            <a:ext cx="4071491" cy="11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Sharpe Ratio, Volatility, Max Drawdown, SEBI Riskometer (1-6)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4597896" y="3438674"/>
            <a:ext cx="176213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04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4597896" y="3578870"/>
            <a:ext cx="4071565" cy="9525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9" name="Text 16"/>
          <p:cNvSpPr/>
          <p:nvPr/>
        </p:nvSpPr>
        <p:spPr>
          <a:xfrm>
            <a:off x="4597896" y="3641973"/>
            <a:ext cx="1036811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Fantasy Goal Planning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597896" y="3802633"/>
            <a:ext cx="4071565" cy="11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10,000 Monte Carlo simulations with inflation-adjusted P10/P50/P90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4538" y="4032572"/>
            <a:ext cx="176213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05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474538" y="4172769"/>
            <a:ext cx="4071491" cy="9525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23" name="Text 20"/>
          <p:cNvSpPr/>
          <p:nvPr/>
        </p:nvSpPr>
        <p:spPr>
          <a:xfrm>
            <a:off x="474538" y="4235872"/>
            <a:ext cx="1036811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Tax Leakage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74538" y="4396532"/>
            <a:ext cx="4071491" cy="11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Automated FIFO lot tracking with STCG/LTCG split on every redemption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4597896" y="4032572"/>
            <a:ext cx="176213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06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4597896" y="4172769"/>
            <a:ext cx="4071565" cy="9525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27" name="Text 24"/>
          <p:cNvSpPr/>
          <p:nvPr/>
        </p:nvSpPr>
        <p:spPr>
          <a:xfrm>
            <a:off x="4597896" y="4235872"/>
            <a:ext cx="1036811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Stale NAV Data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97896" y="4396532"/>
            <a:ext cx="4071565" cy="11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4-level NAV fallback: DB → Scheme Master → Live MFAPI → Cost basis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474538" y="4632945"/>
            <a:ext cx="8194923" cy="11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Technology Stack:</a:t>
            </a:r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React 19 SPA + Spring Boot 3.2 REST API + PostgreSQL 15 (Supabase) + Render Cloud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5392" y="428030"/>
            <a:ext cx="2425675" cy="303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Core Capabilities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392" y="873323"/>
            <a:ext cx="796379" cy="7963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5392" y="1758479"/>
            <a:ext cx="1801862" cy="151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Multi-Source Transaction Import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5392" y="1952625"/>
            <a:ext cx="1961704" cy="909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CSV bulk import: 6 date formats, 11 transaction types</a:t>
            </a:r>
            <a:endParaRPr lang="en-US" sz="80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Manual form with auto-NAV lookup</a:t>
            </a:r>
            <a:endParaRPr lang="en-US" sz="80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Auto-folio generation with scheme resolution</a:t>
            </a:r>
            <a:endParaRPr lang="en-US" sz="80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45,000+ AMFI scheme database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871" y="873323"/>
            <a:ext cx="796379" cy="7963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5871" y="1758479"/>
            <a:ext cx="1600870" cy="151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Real-Time Portfolio Valuation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2565871" y="1952625"/>
            <a:ext cx="1961704" cy="909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Holdings aggregated from investment_lots</a:t>
            </a:r>
            <a:endParaRPr lang="en-US" sz="80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4-level NAV fallback chain</a:t>
            </a:r>
            <a:endParaRPr lang="en-US" sz="80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Portfolio totals with overall gain/loss</a:t>
            </a:r>
            <a:endParaRPr lang="en-US" sz="80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Monthly growth timeline from NAV history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351" y="873323"/>
            <a:ext cx="796379" cy="79637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16351" y="1758479"/>
            <a:ext cx="1253430" cy="151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XIRR &amp; Returns Engine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4616351" y="1952625"/>
            <a:ext cx="1961704" cy="909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Newton-Raphson (1,000 iter, 1e-7 tolerance)</a:t>
            </a:r>
            <a:endParaRPr lang="en-US" sz="80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Bisection fallback for edge cases</a:t>
            </a:r>
            <a:endParaRPr lang="en-US" sz="80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Absolute Return + CAGR calculations</a:t>
            </a:r>
            <a:endParaRPr lang="en-US" sz="80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Per-fund: units, cost, current value, gain/loss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6830" y="873323"/>
            <a:ext cx="796454" cy="7964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66830" y="1758553"/>
            <a:ext cx="1378446" cy="151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Risk Analytics Dashboard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6666830" y="1952699"/>
            <a:ext cx="1961778" cy="770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Sharpe Ratio: (Return − 7% RFR) / Volatility</a:t>
            </a:r>
            <a:endParaRPr lang="en-US" sz="80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12-category weighted volatility</a:t>
            </a:r>
            <a:endParaRPr lang="en-US" sz="80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SEBI Riskometer (1-6), Max Drawdown</a:t>
            </a:r>
            <a:endParaRPr lang="en-US" sz="80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Diversification Score (0-10)</a:t>
            </a:r>
            <a:endParaRPr lang="en-US" sz="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392" y="3004617"/>
            <a:ext cx="796379" cy="79637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5392" y="3889772"/>
            <a:ext cx="1357982" cy="151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Monte Carlo Goal Engine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515392" y="4083918"/>
            <a:ext cx="1961704" cy="631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10,000 Gaussian simulations per goal</a:t>
            </a:r>
            <a:endParaRPr lang="en-US" sz="80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P10/P50/P90 in today's rupees</a:t>
            </a:r>
            <a:endParaRPr lang="en-US" sz="80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Required SIP calculator</a:t>
            </a:r>
            <a:endParaRPr lang="en-US" sz="80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 sensitivity scenarios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281" y="499914"/>
            <a:ext cx="3069208" cy="383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Intelligent Features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7281" y="1306637"/>
            <a:ext cx="2633960" cy="1631305"/>
          </a:xfrm>
          <a:prstGeom prst="roundRect">
            <a:avLst>
              <a:gd name="adj" fmla="val 4204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7281" y="1292349"/>
            <a:ext cx="2633960" cy="57150"/>
          </a:xfrm>
          <a:prstGeom prst="roundRect">
            <a:avLst>
              <a:gd name="adj" fmla="val 34237"/>
            </a:avLst>
          </a:prstGeom>
          <a:solidFill>
            <a:srgbClr val="EF9C82"/>
          </a:solidFill>
          <a:ln/>
        </p:spPr>
      </p:sp>
      <p:sp>
        <p:nvSpPr>
          <p:cNvPr id="5" name="Shape 3"/>
          <p:cNvSpPr/>
          <p:nvPr/>
        </p:nvSpPr>
        <p:spPr>
          <a:xfrm>
            <a:off x="1628626" y="1111002"/>
            <a:ext cx="391269" cy="391269"/>
          </a:xfrm>
          <a:prstGeom prst="roundRect">
            <a:avLst>
              <a:gd name="adj" fmla="val 146063"/>
            </a:avLst>
          </a:prstGeom>
          <a:solidFill>
            <a:srgbClr val="EF9C82"/>
          </a:solidFill>
          <a:ln/>
        </p:spPr>
      </p:sp>
      <p:sp>
        <p:nvSpPr>
          <p:cNvPr id="6" name="Text 4"/>
          <p:cNvSpPr/>
          <p:nvPr/>
        </p:nvSpPr>
        <p:spPr>
          <a:xfrm>
            <a:off x="1745977" y="1208782"/>
            <a:ext cx="156493" cy="1956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1942" y="1632719"/>
            <a:ext cx="1534567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FIFO Tax Automation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1942" y="1892722"/>
            <a:ext cx="2344638" cy="900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BUY creates InvestmentLot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SELL iterates oldest lots first (FIFO)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≥365 days = LTCG, else STCG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Auto-computed per transaction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54946" y="1306637"/>
            <a:ext cx="2634035" cy="1631305"/>
          </a:xfrm>
          <a:prstGeom prst="roundRect">
            <a:avLst>
              <a:gd name="adj" fmla="val 4204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54946" y="1292349"/>
            <a:ext cx="2634035" cy="57150"/>
          </a:xfrm>
          <a:prstGeom prst="roundRect">
            <a:avLst>
              <a:gd name="adj" fmla="val 34237"/>
            </a:avLst>
          </a:prstGeom>
          <a:solidFill>
            <a:srgbClr val="EF9C82"/>
          </a:solidFill>
          <a:ln/>
        </p:spPr>
      </p:sp>
      <p:sp>
        <p:nvSpPr>
          <p:cNvPr id="11" name="Shape 9"/>
          <p:cNvSpPr/>
          <p:nvPr/>
        </p:nvSpPr>
        <p:spPr>
          <a:xfrm>
            <a:off x="4376291" y="1111002"/>
            <a:ext cx="391269" cy="391269"/>
          </a:xfrm>
          <a:prstGeom prst="roundRect">
            <a:avLst>
              <a:gd name="adj" fmla="val 146063"/>
            </a:avLst>
          </a:prstGeom>
          <a:solidFill>
            <a:srgbClr val="EF9C82"/>
          </a:solidFill>
          <a:ln/>
        </p:spPr>
      </p:sp>
      <p:sp>
        <p:nvSpPr>
          <p:cNvPr id="12" name="Text 10"/>
          <p:cNvSpPr/>
          <p:nvPr/>
        </p:nvSpPr>
        <p:spPr>
          <a:xfrm>
            <a:off x="4493642" y="1208782"/>
            <a:ext cx="156493" cy="1956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99606" y="1632719"/>
            <a:ext cx="1534567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SIP Intelligence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99606" y="1892722"/>
            <a:ext cx="2344713" cy="860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SIP vs Lumpsum comparison per fund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Rupee-cost averaging quantification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Advantage ranking across portfolio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02685" y="1306637"/>
            <a:ext cx="2634035" cy="1631305"/>
          </a:xfrm>
          <a:prstGeom prst="roundRect">
            <a:avLst>
              <a:gd name="adj" fmla="val 4204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02685" y="1292349"/>
            <a:ext cx="2634035" cy="57150"/>
          </a:xfrm>
          <a:prstGeom prst="roundRect">
            <a:avLst>
              <a:gd name="adj" fmla="val 34237"/>
            </a:avLst>
          </a:prstGeom>
          <a:solidFill>
            <a:srgbClr val="EF9C82"/>
          </a:solidFill>
          <a:ln/>
        </p:spPr>
      </p:sp>
      <p:sp>
        <p:nvSpPr>
          <p:cNvPr id="17" name="Shape 15"/>
          <p:cNvSpPr/>
          <p:nvPr/>
        </p:nvSpPr>
        <p:spPr>
          <a:xfrm>
            <a:off x="7124030" y="1111002"/>
            <a:ext cx="391269" cy="391269"/>
          </a:xfrm>
          <a:prstGeom prst="roundRect">
            <a:avLst>
              <a:gd name="adj" fmla="val 146063"/>
            </a:avLst>
          </a:prstGeom>
          <a:solidFill>
            <a:srgbClr val="EF9C82"/>
          </a:solidFill>
          <a:ln/>
        </p:spPr>
      </p:sp>
      <p:sp>
        <p:nvSpPr>
          <p:cNvPr id="18" name="Text 16"/>
          <p:cNvSpPr/>
          <p:nvPr/>
        </p:nvSpPr>
        <p:spPr>
          <a:xfrm>
            <a:off x="7241381" y="1208782"/>
            <a:ext cx="156493" cy="1956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47346" y="1632719"/>
            <a:ext cx="1871290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45K Scheme DB + Live NAV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47346" y="1892722"/>
            <a:ext cx="2344713" cy="665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Nightly AMFI NAVAll.txt sync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pg_trgm fuzzy search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On-demand MFAPI live fetch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7281" y="3247281"/>
            <a:ext cx="4007867" cy="1396231"/>
          </a:xfrm>
          <a:prstGeom prst="roundRect">
            <a:avLst>
              <a:gd name="adj" fmla="val 4912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281" y="3232993"/>
            <a:ext cx="4007867" cy="57150"/>
          </a:xfrm>
          <a:prstGeom prst="roundRect">
            <a:avLst>
              <a:gd name="adj" fmla="val 34237"/>
            </a:avLst>
          </a:prstGeom>
          <a:solidFill>
            <a:srgbClr val="EF9C82"/>
          </a:solidFill>
          <a:ln/>
        </p:spPr>
      </p:sp>
      <p:sp>
        <p:nvSpPr>
          <p:cNvPr id="23" name="Shape 21"/>
          <p:cNvSpPr/>
          <p:nvPr/>
        </p:nvSpPr>
        <p:spPr>
          <a:xfrm>
            <a:off x="2315542" y="3051646"/>
            <a:ext cx="391269" cy="391269"/>
          </a:xfrm>
          <a:prstGeom prst="roundRect">
            <a:avLst>
              <a:gd name="adj" fmla="val 146063"/>
            </a:avLst>
          </a:prstGeom>
          <a:solidFill>
            <a:srgbClr val="EF9C82"/>
          </a:solidFill>
          <a:ln/>
        </p:spPr>
      </p:sp>
      <p:sp>
        <p:nvSpPr>
          <p:cNvPr id="24" name="Text 22"/>
          <p:cNvSpPr/>
          <p:nvPr/>
        </p:nvSpPr>
        <p:spPr>
          <a:xfrm>
            <a:off x="2432893" y="3149426"/>
            <a:ext cx="156493" cy="1956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1942" y="3573363"/>
            <a:ext cx="1534567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Notifications &amp; Alerts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1942" y="3833366"/>
            <a:ext cx="3718545" cy="43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In-app alerts (Info/Watch/Action)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Email notifications via Gmail SMTP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28852" y="3247281"/>
            <a:ext cx="4007867" cy="1396231"/>
          </a:xfrm>
          <a:prstGeom prst="roundRect">
            <a:avLst>
              <a:gd name="adj" fmla="val 4912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28852" y="3232993"/>
            <a:ext cx="4007867" cy="57150"/>
          </a:xfrm>
          <a:prstGeom prst="roundRect">
            <a:avLst>
              <a:gd name="adj" fmla="val 34237"/>
            </a:avLst>
          </a:prstGeom>
          <a:solidFill>
            <a:srgbClr val="EF9C82"/>
          </a:solidFill>
          <a:ln/>
        </p:spPr>
      </p:sp>
      <p:sp>
        <p:nvSpPr>
          <p:cNvPr id="29" name="Shape 27"/>
          <p:cNvSpPr/>
          <p:nvPr/>
        </p:nvSpPr>
        <p:spPr>
          <a:xfrm>
            <a:off x="6437114" y="3051646"/>
            <a:ext cx="391269" cy="391269"/>
          </a:xfrm>
          <a:prstGeom prst="roundRect">
            <a:avLst>
              <a:gd name="adj" fmla="val 146063"/>
            </a:avLst>
          </a:prstGeom>
          <a:solidFill>
            <a:srgbClr val="EF9C82"/>
          </a:solidFill>
          <a:ln/>
        </p:spPr>
      </p:sp>
      <p:sp>
        <p:nvSpPr>
          <p:cNvPr id="30" name="Text 28"/>
          <p:cNvSpPr/>
          <p:nvPr/>
        </p:nvSpPr>
        <p:spPr>
          <a:xfrm>
            <a:off x="6554465" y="3149426"/>
            <a:ext cx="156493" cy="1956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73513" y="3573363"/>
            <a:ext cx="1534567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Profile &amp; Settings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73513" y="3833366"/>
            <a:ext cx="3718545" cy="665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Profile: name, PAN, DOB, nominee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OTP-based password reset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Dark theme UI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353" y="376386"/>
            <a:ext cx="2055242" cy="254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End-to-End Data Flow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8568" y="731341"/>
            <a:ext cx="3966790" cy="38699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53" y="4657651"/>
            <a:ext cx="8211294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281" y="495746"/>
            <a:ext cx="3529385" cy="340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Core Engineering Challenges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07281" y="1016422"/>
            <a:ext cx="4019773" cy="1770757"/>
          </a:xfrm>
          <a:prstGeom prst="roundRect">
            <a:avLst>
              <a:gd name="adj" fmla="val 982"/>
            </a:avLst>
          </a:prstGeom>
          <a:solidFill>
            <a:srgbClr val="315251"/>
          </a:solidFill>
          <a:ln/>
        </p:spPr>
      </p:sp>
      <p:sp>
        <p:nvSpPr>
          <p:cNvPr id="4" name="Shape 2"/>
          <p:cNvSpPr/>
          <p:nvPr/>
        </p:nvSpPr>
        <p:spPr>
          <a:xfrm>
            <a:off x="623218" y="1132359"/>
            <a:ext cx="347811" cy="347811"/>
          </a:xfrm>
          <a:prstGeom prst="roundRect">
            <a:avLst>
              <a:gd name="adj" fmla="val 16429695"/>
            </a:avLst>
          </a:prstGeom>
          <a:solidFill>
            <a:srgbClr val="EF9C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8840" y="1227981"/>
            <a:ext cx="156493" cy="1564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3218" y="1569988"/>
            <a:ext cx="1873448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Multi-Strategy NAV Resolution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3218" y="1794346"/>
            <a:ext cx="3787899" cy="329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Problem:</a:t>
            </a:r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NAV data from multiple sources with varying freshness. A failed API call shouldn't break the portfolio view.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3218" y="2177430"/>
            <a:ext cx="3787899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Solution:</a:t>
            </a:r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4-level fallback in HoldingsService.getHoldings(): nav_daily → scheme_master → Live MFAPI (8s timeout, cached back) → avg cost NAV. Stale detection: &gt;5 days triggers refresh; &gt;1 year = discontinued, skip.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16872" y="1016422"/>
            <a:ext cx="4019848" cy="1770757"/>
          </a:xfrm>
          <a:prstGeom prst="roundRect">
            <a:avLst>
              <a:gd name="adj" fmla="val 982"/>
            </a:avLst>
          </a:prstGeom>
          <a:solidFill>
            <a:srgbClr val="315251"/>
          </a:solidFill>
          <a:ln/>
        </p:spPr>
      </p:sp>
      <p:sp>
        <p:nvSpPr>
          <p:cNvPr id="10" name="Shape 7"/>
          <p:cNvSpPr/>
          <p:nvPr/>
        </p:nvSpPr>
        <p:spPr>
          <a:xfrm>
            <a:off x="4732809" y="1132359"/>
            <a:ext cx="347811" cy="347811"/>
          </a:xfrm>
          <a:prstGeom prst="roundRect">
            <a:avLst>
              <a:gd name="adj" fmla="val 16429695"/>
            </a:avLst>
          </a:prstGeom>
          <a:solidFill>
            <a:srgbClr val="EF9C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8431" y="1227981"/>
            <a:ext cx="156493" cy="1564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2809" y="1569988"/>
            <a:ext cx="2397472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XIRR Convergence on Real-World Data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732809" y="1794346"/>
            <a:ext cx="3787973" cy="329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Problem:</a:t>
            </a:r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50-120+ irregular cashflows. Newton-Raphson can diverge with bad guesses or zero derivatives.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732809" y="2177430"/>
            <a:ext cx="3787973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Solution:</a:t>
            </a:r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Triple-strategy in XirrService: Newton-Raphson (guess=0.1) → Newton-Raphson (guess=-0.5) → Bisection [-0.999, 5.0]. NaN/Infinity guards, short-period bypass (&lt;7 days), sanity clamp [-99%, +500%].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07281" y="2876996"/>
            <a:ext cx="4019773" cy="1770757"/>
          </a:xfrm>
          <a:prstGeom prst="roundRect">
            <a:avLst>
              <a:gd name="adj" fmla="val 982"/>
            </a:avLst>
          </a:prstGeom>
          <a:solidFill>
            <a:srgbClr val="315251"/>
          </a:solidFill>
          <a:ln/>
        </p:spPr>
      </p:sp>
      <p:sp>
        <p:nvSpPr>
          <p:cNvPr id="16" name="Shape 12"/>
          <p:cNvSpPr/>
          <p:nvPr/>
        </p:nvSpPr>
        <p:spPr>
          <a:xfrm>
            <a:off x="623218" y="2992934"/>
            <a:ext cx="347811" cy="347811"/>
          </a:xfrm>
          <a:prstGeom prst="roundRect">
            <a:avLst>
              <a:gd name="adj" fmla="val 16429695"/>
            </a:avLst>
          </a:prstGeom>
          <a:solidFill>
            <a:srgbClr val="EF9C8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8840" y="3088556"/>
            <a:ext cx="156493" cy="1564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3218" y="3430563"/>
            <a:ext cx="2491680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Concurrent NAV Upsert Race Conditions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23218" y="3654921"/>
            <a:ext cx="3787899" cy="329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Problem:</a:t>
            </a:r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Multiple requests for same scheme may INSERT the same (scheme_code, nav_date) row simultaneously.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23218" y="4038005"/>
            <a:ext cx="3787899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Solution:</a:t>
            </a:r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PostgreSQL UNIQUE constraint + app-level existsBySchemeCodeAndNavDate() + try-catch silently ignoring duplicate key. First writer wins; others proceed with fetched value.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616872" y="2876996"/>
            <a:ext cx="4019848" cy="1770757"/>
          </a:xfrm>
          <a:prstGeom prst="roundRect">
            <a:avLst>
              <a:gd name="adj" fmla="val 982"/>
            </a:avLst>
          </a:prstGeom>
          <a:solidFill>
            <a:srgbClr val="315251"/>
          </a:solidFill>
          <a:ln/>
        </p:spPr>
      </p:sp>
      <p:sp>
        <p:nvSpPr>
          <p:cNvPr id="22" name="Shape 17"/>
          <p:cNvSpPr/>
          <p:nvPr/>
        </p:nvSpPr>
        <p:spPr>
          <a:xfrm>
            <a:off x="4732809" y="2992934"/>
            <a:ext cx="347811" cy="347811"/>
          </a:xfrm>
          <a:prstGeom prst="roundRect">
            <a:avLst>
              <a:gd name="adj" fmla="val 16429695"/>
            </a:avLst>
          </a:prstGeom>
          <a:solidFill>
            <a:srgbClr val="EF9C8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8431" y="3088556"/>
            <a:ext cx="156493" cy="1564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32809" y="3430563"/>
            <a:ext cx="1364084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CSV Import Flexibility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732809" y="3654921"/>
            <a:ext cx="3787973" cy="329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Problem:</a:t>
            </a:r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Users export CSVs from different platforms with inconsistent headers, dates, and types.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4732809" y="4038005"/>
            <a:ext cx="3787973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Solution:</a:t>
            </a:r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coalesce() tries 5+ header variants per field. 6 date parsers. Type normalizer maps 30+ aliases → 11 canonical types. RFC 4180 CSV parser with quoted fields.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724" y="380628"/>
            <a:ext cx="2428429" cy="263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Algorithms &amp; Intelligence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482724" y="751656"/>
            <a:ext cx="8178552" cy="623813"/>
          </a:xfrm>
          <a:prstGeom prst="roundRect">
            <a:avLst>
              <a:gd name="adj" fmla="val 2156"/>
            </a:avLst>
          </a:prstGeom>
          <a:solidFill>
            <a:srgbClr val="123332"/>
          </a:solidFill>
          <a:ln w="9525">
            <a:solidFill>
              <a:srgbClr val="4A6B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2249" y="761181"/>
            <a:ext cx="358601" cy="604763"/>
          </a:xfrm>
          <a:prstGeom prst="roundRect">
            <a:avLst>
              <a:gd name="adj" fmla="val 563"/>
            </a:avLst>
          </a:prstGeom>
          <a:solidFill>
            <a:srgbClr val="315251"/>
          </a:solidFill>
          <a:ln/>
        </p:spPr>
      </p:sp>
      <p:sp>
        <p:nvSpPr>
          <p:cNvPr id="5" name="Text 3"/>
          <p:cNvSpPr/>
          <p:nvPr/>
        </p:nvSpPr>
        <p:spPr>
          <a:xfrm>
            <a:off x="604317" y="979512"/>
            <a:ext cx="134466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04503" y="850776"/>
            <a:ext cx="1106984" cy="131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Newton-Raphson XIRR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04503" y="1014785"/>
            <a:ext cx="7657654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Used In:</a:t>
            </a:r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XirrService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04503" y="1161678"/>
            <a:ext cx="7657654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Details:</a:t>
            </a:r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NPV(r) = Σ[Cᵢ/(1+r)^(tᵢ/365.25)] = 0. Iterative: 1,000 max iterations, 1e-7 tolerance. Bisection fallback for convergence issues.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82724" y="1429122"/>
            <a:ext cx="8178552" cy="623813"/>
          </a:xfrm>
          <a:prstGeom prst="roundRect">
            <a:avLst>
              <a:gd name="adj" fmla="val 2156"/>
            </a:avLst>
          </a:prstGeom>
          <a:solidFill>
            <a:srgbClr val="123332"/>
          </a:solidFill>
          <a:ln w="9525">
            <a:solidFill>
              <a:srgbClr val="4A6B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2249" y="1438647"/>
            <a:ext cx="358601" cy="604763"/>
          </a:xfrm>
          <a:prstGeom prst="roundRect">
            <a:avLst>
              <a:gd name="adj" fmla="val 563"/>
            </a:avLst>
          </a:prstGeom>
          <a:solidFill>
            <a:srgbClr val="315251"/>
          </a:solidFill>
          <a:ln/>
        </p:spPr>
      </p:sp>
      <p:sp>
        <p:nvSpPr>
          <p:cNvPr id="11" name="Text 9"/>
          <p:cNvSpPr/>
          <p:nvPr/>
        </p:nvSpPr>
        <p:spPr>
          <a:xfrm>
            <a:off x="604317" y="1656978"/>
            <a:ext cx="134466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04503" y="1528242"/>
            <a:ext cx="1129531" cy="131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Monte Carlo Simulation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04503" y="1692250"/>
            <a:ext cx="7657654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Used In:</a:t>
            </a:r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GoalEngineService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04503" y="1839144"/>
            <a:ext cx="7657654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Details:</a:t>
            </a:r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10,000 Gaussian simulations. r = μ + σ×N(0,1) with volatility floor. P10/P50/P90 inflation-deflated projections.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82724" y="2106588"/>
            <a:ext cx="8178552" cy="623813"/>
          </a:xfrm>
          <a:prstGeom prst="roundRect">
            <a:avLst>
              <a:gd name="adj" fmla="val 2156"/>
            </a:avLst>
          </a:prstGeom>
          <a:solidFill>
            <a:srgbClr val="123332"/>
          </a:solidFill>
          <a:ln w="9525">
            <a:solidFill>
              <a:srgbClr val="4A6B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2249" y="2116113"/>
            <a:ext cx="358601" cy="604763"/>
          </a:xfrm>
          <a:prstGeom prst="roundRect">
            <a:avLst>
              <a:gd name="adj" fmla="val 563"/>
            </a:avLst>
          </a:prstGeom>
          <a:solidFill>
            <a:srgbClr val="315251"/>
          </a:solidFill>
          <a:ln/>
        </p:spPr>
      </p:sp>
      <p:sp>
        <p:nvSpPr>
          <p:cNvPr id="17" name="Text 15"/>
          <p:cNvSpPr/>
          <p:nvPr/>
        </p:nvSpPr>
        <p:spPr>
          <a:xfrm>
            <a:off x="604317" y="2334444"/>
            <a:ext cx="134466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04503" y="2205707"/>
            <a:ext cx="1079971" cy="131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FIFO Lot Consumption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04503" y="2369716"/>
            <a:ext cx="7657654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Used In:</a:t>
            </a:r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TransactionController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04503" y="2516609"/>
            <a:ext cx="7657654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Details:</a:t>
            </a:r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Oldest lots consumed first. Holding ≥365d = LTCG, else STCG. Per-lot gain computed automatically.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82724" y="2784053"/>
            <a:ext cx="8178552" cy="623813"/>
          </a:xfrm>
          <a:prstGeom prst="roundRect">
            <a:avLst>
              <a:gd name="adj" fmla="val 2156"/>
            </a:avLst>
          </a:prstGeom>
          <a:solidFill>
            <a:srgbClr val="123332"/>
          </a:solidFill>
          <a:ln w="9525">
            <a:solidFill>
              <a:srgbClr val="4A6B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2249" y="2793578"/>
            <a:ext cx="358601" cy="604763"/>
          </a:xfrm>
          <a:prstGeom prst="roundRect">
            <a:avLst>
              <a:gd name="adj" fmla="val 563"/>
            </a:avLst>
          </a:prstGeom>
          <a:solidFill>
            <a:srgbClr val="315251"/>
          </a:solidFill>
          <a:ln/>
        </p:spPr>
      </p:sp>
      <p:sp>
        <p:nvSpPr>
          <p:cNvPr id="23" name="Text 21"/>
          <p:cNvSpPr/>
          <p:nvPr/>
        </p:nvSpPr>
        <p:spPr>
          <a:xfrm>
            <a:off x="604317" y="3011909"/>
            <a:ext cx="134466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04503" y="2883173"/>
            <a:ext cx="1054671" cy="131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Sharpe Ratio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04503" y="3047181"/>
            <a:ext cx="7657654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Used In:</a:t>
            </a:r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AnalyticsService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04503" y="3194075"/>
            <a:ext cx="7657654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Details:</a:t>
            </a:r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Sharpe = (Return − 7% RFR) / Volatility. Category-weighted across 12 MF categories for comprehensive risk assessment.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82724" y="3461519"/>
            <a:ext cx="8178552" cy="623813"/>
          </a:xfrm>
          <a:prstGeom prst="roundRect">
            <a:avLst>
              <a:gd name="adj" fmla="val 2156"/>
            </a:avLst>
          </a:prstGeom>
          <a:solidFill>
            <a:srgbClr val="123332"/>
          </a:solidFill>
          <a:ln w="9525">
            <a:solidFill>
              <a:srgbClr val="4A6B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2249" y="3471044"/>
            <a:ext cx="358601" cy="604763"/>
          </a:xfrm>
          <a:prstGeom prst="roundRect">
            <a:avLst>
              <a:gd name="adj" fmla="val 563"/>
            </a:avLst>
          </a:prstGeom>
          <a:solidFill>
            <a:srgbClr val="315251"/>
          </a:solidFill>
          <a:ln/>
        </p:spPr>
      </p:sp>
      <p:sp>
        <p:nvSpPr>
          <p:cNvPr id="29" name="Text 27"/>
          <p:cNvSpPr/>
          <p:nvPr/>
        </p:nvSpPr>
        <p:spPr>
          <a:xfrm>
            <a:off x="604317" y="3689375"/>
            <a:ext cx="134466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04503" y="3560638"/>
            <a:ext cx="1121718" cy="131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Required SIP Calculator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04503" y="3724647"/>
            <a:ext cx="7657654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Used In:</a:t>
            </a:r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GoalEngineService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904503" y="3871540"/>
            <a:ext cx="7657654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Details:</a:t>
            </a:r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Inflation-adjust target → subtract FV of corpus → solve annuity for SIP. Includes extra months calculator for flexibility.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82724" y="4138985"/>
            <a:ext cx="8178552" cy="623813"/>
          </a:xfrm>
          <a:prstGeom prst="roundRect">
            <a:avLst>
              <a:gd name="adj" fmla="val 2156"/>
            </a:avLst>
          </a:prstGeom>
          <a:solidFill>
            <a:srgbClr val="123332"/>
          </a:solidFill>
          <a:ln w="9525">
            <a:solidFill>
              <a:srgbClr val="4A6B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2249" y="4148510"/>
            <a:ext cx="358601" cy="604763"/>
          </a:xfrm>
          <a:prstGeom prst="roundRect">
            <a:avLst>
              <a:gd name="adj" fmla="val 563"/>
            </a:avLst>
          </a:prstGeom>
          <a:solidFill>
            <a:srgbClr val="315251"/>
          </a:solidFill>
          <a:ln/>
        </p:spPr>
      </p:sp>
      <p:sp>
        <p:nvSpPr>
          <p:cNvPr id="35" name="Text 33"/>
          <p:cNvSpPr/>
          <p:nvPr/>
        </p:nvSpPr>
        <p:spPr>
          <a:xfrm>
            <a:off x="604317" y="4366840"/>
            <a:ext cx="134466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6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4503" y="4238104"/>
            <a:ext cx="1054671" cy="131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SIP vs Lumpsum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04503" y="4402113"/>
            <a:ext cx="7657654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Used In:</a:t>
            </a:r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AnalyticsService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904503" y="4549006"/>
            <a:ext cx="7657654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Details:</a:t>
            </a:r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Actual multi-lot DCA value vs hypothetical day-1 lumpsum. Ranked by advantage to optimize investment strategy.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075" y="1607344"/>
            <a:ext cx="4133850" cy="1928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5392" y="508992"/>
            <a:ext cx="3480792" cy="281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Security &amp; Authentication Pipeline</a:t>
            </a:r>
            <a:endParaRPr lang="en-US" sz="175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92" y="882328"/>
            <a:ext cx="287164" cy="71437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63798" y="978024"/>
            <a:ext cx="1126182" cy="140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Login Request</a:t>
            </a:r>
            <a:endParaRPr lang="en-US" sz="850" dirty="0"/>
          </a:p>
        </p:txBody>
      </p:sp>
      <p:sp>
        <p:nvSpPr>
          <p:cNvPr id="7" name="Text 2"/>
          <p:cNvSpPr/>
          <p:nvPr/>
        </p:nvSpPr>
        <p:spPr>
          <a:xfrm>
            <a:off x="863798" y="1155427"/>
            <a:ext cx="3192810" cy="12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User credentials captured and validated</a:t>
            </a:r>
            <a:endParaRPr lang="en-US" sz="7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37" y="1517898"/>
            <a:ext cx="287164" cy="7143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07343" y="1613595"/>
            <a:ext cx="1126182" cy="140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AuthService.login()</a:t>
            </a:r>
            <a:endParaRPr lang="en-US" sz="850" dirty="0"/>
          </a:p>
        </p:txBody>
      </p:sp>
      <p:sp>
        <p:nvSpPr>
          <p:cNvPr id="10" name="Text 4"/>
          <p:cNvSpPr/>
          <p:nvPr/>
        </p:nvSpPr>
        <p:spPr>
          <a:xfrm>
            <a:off x="1007343" y="1790998"/>
            <a:ext cx="3049265" cy="12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BCrypt.matches() verifies password hash</a:t>
            </a:r>
            <a:endParaRPr lang="en-US" sz="7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556" y="2153469"/>
            <a:ext cx="287164" cy="7143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50962" y="2249165"/>
            <a:ext cx="1347267" cy="140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Generate HMAC-SHA JWT</a:t>
            </a:r>
            <a:endParaRPr lang="en-US" sz="850" dirty="0"/>
          </a:p>
        </p:txBody>
      </p:sp>
      <p:sp>
        <p:nvSpPr>
          <p:cNvPr id="13" name="Text 6"/>
          <p:cNvSpPr/>
          <p:nvPr/>
        </p:nvSpPr>
        <p:spPr>
          <a:xfrm>
            <a:off x="1150962" y="2426568"/>
            <a:ext cx="2905646" cy="12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AuthTokenService creates signed token with 54-char secret</a:t>
            </a:r>
            <a:endParaRPr lang="en-US" sz="7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100" y="2789039"/>
            <a:ext cx="287164" cy="71437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294507" y="2884736"/>
            <a:ext cx="1126182" cy="140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Return Payload</a:t>
            </a:r>
            <a:endParaRPr lang="en-US" sz="850" dirty="0"/>
          </a:p>
        </p:txBody>
      </p:sp>
      <p:sp>
        <p:nvSpPr>
          <p:cNvPr id="16" name="Text 8"/>
          <p:cNvSpPr/>
          <p:nvPr/>
        </p:nvSpPr>
        <p:spPr>
          <a:xfrm>
            <a:off x="1294507" y="3062139"/>
            <a:ext cx="2762101" cy="12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AuthController sends JWT to client with user details</a:t>
            </a:r>
            <a:endParaRPr lang="en-US" sz="7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556" y="3424610"/>
            <a:ext cx="287164" cy="714375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150962" y="3520306"/>
            <a:ext cx="1126182" cy="140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Every Request</a:t>
            </a:r>
            <a:endParaRPr lang="en-US" sz="850" dirty="0"/>
          </a:p>
        </p:txBody>
      </p:sp>
      <p:sp>
        <p:nvSpPr>
          <p:cNvPr id="19" name="Text 10"/>
          <p:cNvSpPr/>
          <p:nvPr/>
        </p:nvSpPr>
        <p:spPr>
          <a:xfrm>
            <a:off x="1150962" y="3697709"/>
            <a:ext cx="2905646" cy="12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JwtAuthFilter extracts Bearer token and validates signature</a:t>
            </a:r>
            <a:endParaRPr lang="en-US" sz="7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937" y="4060180"/>
            <a:ext cx="287164" cy="71437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07343" y="4155877"/>
            <a:ext cx="1126182" cy="140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Set SecurityContext</a:t>
            </a:r>
            <a:endParaRPr lang="en-US" sz="850" dirty="0"/>
          </a:p>
        </p:txBody>
      </p:sp>
      <p:sp>
        <p:nvSpPr>
          <p:cNvPr id="22" name="Text 12"/>
          <p:cNvSpPr/>
          <p:nvPr/>
        </p:nvSpPr>
        <p:spPr>
          <a:xfrm>
            <a:off x="1007343" y="4333280"/>
            <a:ext cx="3049265" cy="12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Controller receives authenticated user context for authorization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9095" y="430262"/>
            <a:ext cx="2851993" cy="356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Security Measures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9095" y="983159"/>
            <a:ext cx="4023792" cy="858887"/>
          </a:xfrm>
          <a:prstGeom prst="roundRect">
            <a:avLst>
              <a:gd name="adj" fmla="val 2117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529" y="1118592"/>
            <a:ext cx="1683990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Password Theft Protection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4529" y="1355675"/>
            <a:ext cx="3752924" cy="350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BCrypt adaptive hashing (Spring Security PasswordEncoder) with salt rounds prevents rainbow table attacks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21039" y="983159"/>
            <a:ext cx="4023866" cy="858887"/>
          </a:xfrm>
          <a:prstGeom prst="roundRect">
            <a:avLst>
              <a:gd name="adj" fmla="val 2117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6472" y="1118592"/>
            <a:ext cx="1855663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Session Hijacking Prevention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6472" y="1355675"/>
            <a:ext cx="3752999" cy="350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Stateless JWT eliminates server-side session storage, reducing attack surface significantly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9095" y="1940198"/>
            <a:ext cx="4023792" cy="858887"/>
          </a:xfrm>
          <a:prstGeom prst="roundRect">
            <a:avLst>
              <a:gd name="adj" fmla="val 2117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529" y="2075631"/>
            <a:ext cx="1469752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Token Forgery Defense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4529" y="2312715"/>
            <a:ext cx="3752924" cy="350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HMAC-SHA256 signed with 54-character secret ensures message integrity and authenticity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1039" y="1940198"/>
            <a:ext cx="4023866" cy="858887"/>
          </a:xfrm>
          <a:prstGeom prst="roundRect">
            <a:avLst>
              <a:gd name="adj" fmla="val 2117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6472" y="2075631"/>
            <a:ext cx="1825600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Brute Force Reset Protection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6472" y="2312715"/>
            <a:ext cx="3752999" cy="350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SecureRandom OTP via Gmail SMTP with rate limiting prevents automated attacks on password reset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9095" y="2897237"/>
            <a:ext cx="4023792" cy="858887"/>
          </a:xfrm>
          <a:prstGeom prst="roundRect">
            <a:avLst>
              <a:gd name="adj" fmla="val 2117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29" y="3032671"/>
            <a:ext cx="1998241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Cross-Origin Attack Prevention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4529" y="3269754"/>
            <a:ext cx="3752924" cy="350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Configurable CORS whitelist restricts API access to authorized domains only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21039" y="2897237"/>
            <a:ext cx="4023866" cy="858887"/>
          </a:xfrm>
          <a:prstGeom prst="roundRect">
            <a:avLst>
              <a:gd name="adj" fmla="val 2117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6472" y="3032671"/>
            <a:ext cx="1596926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SQL Injection Prevention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6472" y="3269754"/>
            <a:ext cx="3752999" cy="350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JPA parameterized queries only, never string concatenation for database operations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9095" y="3854276"/>
            <a:ext cx="4023792" cy="858887"/>
          </a:xfrm>
          <a:prstGeom prst="roundRect">
            <a:avLst>
              <a:gd name="adj" fmla="val 2117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29" y="3989710"/>
            <a:ext cx="1425997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Transport Security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4529" y="4226793"/>
            <a:ext cx="3752924" cy="175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PostgreSQL sslmode=require encrypts all data in transit with TLS 1.2+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21039" y="3854276"/>
            <a:ext cx="4023866" cy="858887"/>
          </a:xfrm>
          <a:prstGeom prst="roundRect">
            <a:avLst>
              <a:gd name="adj" fmla="val 2117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6472" y="3989710"/>
            <a:ext cx="1777157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Secret Exposure Prevention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6472" y="4226793"/>
            <a:ext cx="3752999" cy="350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Environment variables on Render cloud, never hardcoded in source code or version control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8654"/>
            <a:ext cx="2288158" cy="285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Scalability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23577" y="830982"/>
            <a:ext cx="8096845" cy="583481"/>
          </a:xfrm>
          <a:prstGeom prst="roundRect">
            <a:avLst>
              <a:gd name="adj" fmla="val 2500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7865" y="845269"/>
            <a:ext cx="388962" cy="554906"/>
          </a:xfrm>
          <a:prstGeom prst="rect">
            <a:avLst/>
          </a:prstGeom>
          <a:solidFill>
            <a:srgbClr val="31525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9383" y="1049759"/>
            <a:ext cx="145852" cy="1458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0005" y="942454"/>
            <a:ext cx="1144042" cy="142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Docker Optimization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90005" y="1123280"/>
            <a:ext cx="7518946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Leveraging multi-stage builds for a </a:t>
            </a:r>
            <a:pPr algn="l"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200MB JRE-only image</a:t>
            </a:r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(vs. ~800MB JDK), significantly reducing deployment size and startup times.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23577" y="1477640"/>
            <a:ext cx="8096845" cy="583481"/>
          </a:xfrm>
          <a:prstGeom prst="roundRect">
            <a:avLst>
              <a:gd name="adj" fmla="val 2500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7865" y="1491928"/>
            <a:ext cx="388962" cy="554906"/>
          </a:xfrm>
          <a:prstGeom prst="rect">
            <a:avLst/>
          </a:prstGeom>
          <a:solidFill>
            <a:srgbClr val="31525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383" y="1696417"/>
            <a:ext cx="145852" cy="1458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90005" y="1589112"/>
            <a:ext cx="1408584" cy="142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High-Performance Caching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990005" y="1769938"/>
            <a:ext cx="7518946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Caffeine cache</a:t>
            </a:r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with 500 entries and a 10-minute TTL, enhancing responsiveness for frequently accessed data.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523577" y="2124298"/>
            <a:ext cx="8096845" cy="583481"/>
          </a:xfrm>
          <a:prstGeom prst="roundRect">
            <a:avLst>
              <a:gd name="adj" fmla="val 2500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37865" y="2138586"/>
            <a:ext cx="388962" cy="554906"/>
          </a:xfrm>
          <a:prstGeom prst="rect">
            <a:avLst/>
          </a:prstGeom>
          <a:solidFill>
            <a:srgbClr val="31525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9383" y="2343076"/>
            <a:ext cx="145852" cy="1458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0005" y="2235771"/>
            <a:ext cx="1246361" cy="142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Robust Connection Pool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990005" y="2416597"/>
            <a:ext cx="7518946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HikariCP configured with 5 max connections</a:t>
            </a:r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, 60s keepalive, and health-check SQL, ensuring efficient and reliable database interactions.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523577" y="2770956"/>
            <a:ext cx="8096845" cy="583481"/>
          </a:xfrm>
          <a:prstGeom prst="roundRect">
            <a:avLst>
              <a:gd name="adj" fmla="val 2500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37865" y="2785244"/>
            <a:ext cx="388962" cy="554906"/>
          </a:xfrm>
          <a:prstGeom prst="rect">
            <a:avLst/>
          </a:prstGeom>
          <a:solidFill>
            <a:srgbClr val="31525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9383" y="2989734"/>
            <a:ext cx="145852" cy="1458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90005" y="2882429"/>
            <a:ext cx="1208261" cy="142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NAV Deduping Strategy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990005" y="3063255"/>
            <a:ext cx="7518946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PostgreSQL </a:t>
            </a:r>
            <a:pPr algn="l"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UNIQUE constraint</a:t>
            </a:r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combined with app-level checks prevents race conditions and duplicate entries during NAV upserts.</a:t>
            </a:r>
            <a:endParaRPr lang="en-US" sz="750" dirty="0"/>
          </a:p>
        </p:txBody>
      </p:sp>
      <p:sp>
        <p:nvSpPr>
          <p:cNvPr id="23" name="Shape 17"/>
          <p:cNvSpPr/>
          <p:nvPr/>
        </p:nvSpPr>
        <p:spPr>
          <a:xfrm>
            <a:off x="523577" y="3417615"/>
            <a:ext cx="8096845" cy="583481"/>
          </a:xfrm>
          <a:prstGeom prst="roundRect">
            <a:avLst>
              <a:gd name="adj" fmla="val 2500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37865" y="3431902"/>
            <a:ext cx="388962" cy="554906"/>
          </a:xfrm>
          <a:prstGeom prst="rect">
            <a:avLst/>
          </a:prstGeom>
          <a:solidFill>
            <a:srgbClr val="31525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383" y="3636392"/>
            <a:ext cx="145852" cy="14585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90005" y="3529087"/>
            <a:ext cx="1489844" cy="142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Stateless JWT Authentication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990005" y="3709913"/>
            <a:ext cx="7518946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Enables </a:t>
            </a:r>
            <a:pPr algn="l"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horizontal scaling</a:t>
            </a:r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by eliminating server-side sessions, where JWTs are HMAC-SHA256 signed with a 54-character secret for authenticity.</a:t>
            </a:r>
            <a:endParaRPr lang="en-US" sz="750" dirty="0"/>
          </a:p>
        </p:txBody>
      </p:sp>
      <p:sp>
        <p:nvSpPr>
          <p:cNvPr id="28" name="Shape 21"/>
          <p:cNvSpPr/>
          <p:nvPr/>
        </p:nvSpPr>
        <p:spPr>
          <a:xfrm>
            <a:off x="523577" y="4064273"/>
            <a:ext cx="8096845" cy="660499"/>
          </a:xfrm>
          <a:prstGeom prst="roundRect">
            <a:avLst>
              <a:gd name="adj" fmla="val 2209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537865" y="4078560"/>
            <a:ext cx="388962" cy="631924"/>
          </a:xfrm>
          <a:prstGeom prst="rect">
            <a:avLst/>
          </a:prstGeom>
          <a:solidFill>
            <a:srgbClr val="315251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9383" y="4321597"/>
            <a:ext cx="145852" cy="14585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90005" y="4175745"/>
            <a:ext cx="1144042" cy="142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Enhanced Security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990005" y="4356571"/>
            <a:ext cx="7518946" cy="25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Includes </a:t>
            </a:r>
            <a:pPr algn="l"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SecureRandom OTP</a:t>
            </a:r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for password resets, configurable CORS whitelist, JPA parameterized queries, </a:t>
            </a:r>
            <a:pPr algn="l"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PostgreSQL SSL encryption</a:t>
            </a:r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, and environment variables for secret management.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41734"/>
            <a:ext cx="3654623" cy="33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Performance Metrics &amp; Testing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1023045" y="1096045"/>
            <a:ext cx="2996803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&lt;50ms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861393" y="1585466"/>
            <a:ext cx="13201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XIRR Computation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23577" y="1800895"/>
            <a:ext cx="3995812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Calculates for 120+ cashflows, ensuring rapid financial analysis.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124004" y="1096045"/>
            <a:ext cx="299687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&lt;2s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915323" y="1585466"/>
            <a:ext cx="1414239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Monte Carlo Simulation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24536" y="1800895"/>
            <a:ext cx="3995886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Executes 10,000 simulations over 240 months per goal, delivering quick risk assessments.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23045" y="2339355"/>
            <a:ext cx="2996803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45K+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818605" y="2828776"/>
            <a:ext cx="1405682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AMFI Scheme Database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3577" y="3044205"/>
            <a:ext cx="3995812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Supports over 45,000 mutual fund schemes, providing comprehensive market coverage.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124004" y="2339355"/>
            <a:ext cx="299687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&lt;500ms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5962427" y="2828776"/>
            <a:ext cx="13201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API Response 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24536" y="3044205"/>
            <a:ext cx="3995886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Retrieves user holdings in under 500ms with intelligent caching, enhancing user experience.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23045" y="3582665"/>
            <a:ext cx="2996803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~200MB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1777901" y="4072086"/>
            <a:ext cx="1487091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Optimized Docker Image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3577" y="4287515"/>
            <a:ext cx="3995812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JRE-only build reduces image size, enabling faster deployment and lower resource consumption.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124004" y="3582665"/>
            <a:ext cx="299687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8s</a:t>
            </a:r>
            <a:endParaRPr lang="en-US" sz="2900" dirty="0"/>
          </a:p>
        </p:txBody>
      </p:sp>
      <p:sp>
        <p:nvSpPr>
          <p:cNvPr id="19" name="Text 17"/>
          <p:cNvSpPr/>
          <p:nvPr/>
        </p:nvSpPr>
        <p:spPr>
          <a:xfrm>
            <a:off x="5962427" y="4072086"/>
            <a:ext cx="13201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NAV Live Fetch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24536" y="4287515"/>
            <a:ext cx="3995886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API calls for Net Asset Value data are designed with an 8-second timeout and robust caching.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22040"/>
            <a:ext cx="2288158" cy="285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Testing Architecture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23577" y="1134368"/>
            <a:ext cx="8096845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Our robust testing architecture ensures the reliability and integrity of the WealthWise platform, covering every layer from individual services to full end-to-end user flows.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23577" y="1333798"/>
            <a:ext cx="8096845" cy="3087588"/>
          </a:xfrm>
          <a:prstGeom prst="roundRect">
            <a:avLst>
              <a:gd name="adj" fmla="val 472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8340" y="1338560"/>
            <a:ext cx="8087320" cy="2136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25525" y="1381199"/>
            <a:ext cx="1825079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Layer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649736" y="1381199"/>
            <a:ext cx="1822698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Tool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671566" y="1381199"/>
            <a:ext cx="1822698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Test Suite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693396" y="1381199"/>
            <a:ext cx="1825079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Verifications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28340" y="1552203"/>
            <a:ext cx="8087320" cy="34200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5525" y="1594842"/>
            <a:ext cx="1825079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Service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649736" y="1594842"/>
            <a:ext cx="1822698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JUnit 5 + Mockito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71566" y="1594842"/>
            <a:ext cx="1822698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AuthServiceTest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693396" y="1594842"/>
            <a:ext cx="1825079" cy="25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BCrypt hashing, JWT generation, password change logic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28340" y="1894210"/>
            <a:ext cx="8087320" cy="3420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25525" y="1936849"/>
            <a:ext cx="1825079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Service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649736" y="1936849"/>
            <a:ext cx="1822698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JUnit 5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71566" y="1936849"/>
            <a:ext cx="1822698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XirrServiceTest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693396" y="1936849"/>
            <a:ext cx="1825079" cy="25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Newton-Raphson convergence, edge cases for XIRR calculation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28340" y="2236217"/>
            <a:ext cx="8087320" cy="34200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25525" y="2278856"/>
            <a:ext cx="1825079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Service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649736" y="2278856"/>
            <a:ext cx="1822698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JUnit 5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71566" y="2278856"/>
            <a:ext cx="1822698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GoalProjectionServiceTest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693396" y="2278856"/>
            <a:ext cx="1825079" cy="25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Monte Carlo simulations, deterministic projections, required SIP calculations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28340" y="2578224"/>
            <a:ext cx="8087320" cy="3420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25525" y="2620863"/>
            <a:ext cx="1825079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Controller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649736" y="2620863"/>
            <a:ext cx="1822698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MockMvc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71566" y="2620863"/>
            <a:ext cx="1822698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AuthControllerTest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693396" y="2620863"/>
            <a:ext cx="1825079" cy="25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HTTP status codes, authentication flow responses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28340" y="2920231"/>
            <a:ext cx="8087320" cy="34200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25525" y="2962870"/>
            <a:ext cx="1825079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Controller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649736" y="2962870"/>
            <a:ext cx="1822698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MockMvc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671566" y="2962870"/>
            <a:ext cx="1822698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HoldingsControllerTest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693396" y="2962870"/>
            <a:ext cx="1825079" cy="25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Holdings retrieval, NAV fallback mechanisms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28340" y="3262238"/>
            <a:ext cx="8087320" cy="3420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25525" y="3304877"/>
            <a:ext cx="1825079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Frontend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649736" y="3304877"/>
            <a:ext cx="1822698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Vitest + RTL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671566" y="3304877"/>
            <a:ext cx="1822698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App.test.jsx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693396" y="3304877"/>
            <a:ext cx="1825079" cy="25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Router navigation, authentication guards, component rendering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28340" y="3604245"/>
            <a:ext cx="8087320" cy="34200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25525" y="3646884"/>
            <a:ext cx="1825079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Frontend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649736" y="3646884"/>
            <a:ext cx="1822698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Vitest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671566" y="3646884"/>
            <a:ext cx="1822698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goalHelpers / mfApi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693396" y="3646884"/>
            <a:ext cx="1825079" cy="25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Helper function logic, API utility correctness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28340" y="3946252"/>
            <a:ext cx="8087320" cy="4703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25525" y="3988891"/>
            <a:ext cx="1825079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E2E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649736" y="3988891"/>
            <a:ext cx="1822698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Playwright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671566" y="3988891"/>
            <a:ext cx="1822698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auth / dashboard / goals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693396" y="3988891"/>
            <a:ext cx="1825079" cy="385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Comprehensive user flows for authentication, dashboard interactions, and goal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4025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40161" y="1896368"/>
            <a:ext cx="4663678" cy="33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Conclusion: WealthWise Achievements</a:t>
            </a:r>
            <a:endParaRPr lang="en-US" sz="2050" dirty="0"/>
          </a:p>
        </p:txBody>
      </p:sp>
      <p:sp>
        <p:nvSpPr>
          <p:cNvPr id="4" name="Shape 1"/>
          <p:cNvSpPr/>
          <p:nvPr/>
        </p:nvSpPr>
        <p:spPr>
          <a:xfrm>
            <a:off x="523577" y="2352601"/>
            <a:ext cx="8096845" cy="673224"/>
          </a:xfrm>
          <a:prstGeom prst="roundRect">
            <a:avLst>
              <a:gd name="adj" fmla="val 2500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37865" y="2366888"/>
            <a:ext cx="448791" cy="644649"/>
          </a:xfrm>
          <a:prstGeom prst="rect">
            <a:avLst/>
          </a:prstGeom>
          <a:solidFill>
            <a:srgbClr val="315251"/>
          </a:solidFill>
          <a:ln/>
        </p:spPr>
      </p:sp>
      <p:sp>
        <p:nvSpPr>
          <p:cNvPr id="6" name="Text 3"/>
          <p:cNvSpPr/>
          <p:nvPr/>
        </p:nvSpPr>
        <p:spPr>
          <a:xfrm>
            <a:off x="678135" y="2584028"/>
            <a:ext cx="168250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70744" y="2479030"/>
            <a:ext cx="1412156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Democratized Analytics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70744" y="2694459"/>
            <a:ext cx="7423249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Institutional-grade tools like Sharpe Ratio, XIRR, and Monte Carlo simulations are now free and accessible to all retail investors.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23577" y="3109913"/>
            <a:ext cx="8096845" cy="782464"/>
          </a:xfrm>
          <a:prstGeom prst="roundRect">
            <a:avLst>
              <a:gd name="adj" fmla="val 2151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7865" y="3124200"/>
            <a:ext cx="448791" cy="753889"/>
          </a:xfrm>
          <a:prstGeom prst="rect">
            <a:avLst/>
          </a:prstGeom>
          <a:solidFill>
            <a:srgbClr val="315251"/>
          </a:solidFill>
          <a:ln/>
        </p:spPr>
      </p:sp>
      <p:sp>
        <p:nvSpPr>
          <p:cNvPr id="11" name="Text 8"/>
          <p:cNvSpPr/>
          <p:nvPr/>
        </p:nvSpPr>
        <p:spPr>
          <a:xfrm>
            <a:off x="678135" y="3395960"/>
            <a:ext cx="168250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70744" y="3236342"/>
            <a:ext cx="1832223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Production-Ready Engineering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70744" y="3451771"/>
            <a:ext cx="7423249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Robust architecture includes a 12-table schema, FIFO lot tracking, 4-level NAV fallback, advanced Monte Carlo, multi-stage Docker, and JWT security.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23577" y="3976464"/>
            <a:ext cx="8096845" cy="673224"/>
          </a:xfrm>
          <a:prstGeom prst="roundRect">
            <a:avLst>
              <a:gd name="adj" fmla="val 2500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7865" y="3990752"/>
            <a:ext cx="448791" cy="644649"/>
          </a:xfrm>
          <a:prstGeom prst="rect">
            <a:avLst/>
          </a:prstGeom>
          <a:solidFill>
            <a:srgbClr val="315251"/>
          </a:solidFill>
          <a:ln/>
        </p:spPr>
      </p:sp>
      <p:sp>
        <p:nvSpPr>
          <p:cNvPr id="16" name="Text 13"/>
          <p:cNvSpPr/>
          <p:nvPr/>
        </p:nvSpPr>
        <p:spPr>
          <a:xfrm>
            <a:off x="678135" y="4207892"/>
            <a:ext cx="168250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70744" y="4102894"/>
            <a:ext cx="135887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Solving a Real Problem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70744" y="4318322"/>
            <a:ext cx="7423249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WealthWise addresses the ₹50 Trillion market gap for 50M+ Indian MF investors, providing unified portfolio intelligence and goal analysis.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26310" y="1916013"/>
            <a:ext cx="35203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580382"/>
            <a:ext cx="46678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WealthWise Team 8 · Java Full Stack · VTU Internship 2026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952577" y="2988022"/>
            <a:ext cx="46678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GitHub: </a:t>
            </a:r>
            <a:pPr algn="ctr" indent="0" marL="0">
              <a:lnSpc>
                <a:spcPts val="1850"/>
              </a:lnSpc>
              <a:buNone/>
            </a:pPr>
            <a:r>
              <a:rPr lang="en-US" sz="1150" u="sng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github.com/Faishal058/VTU_INTERN_2026_Team8_JAVA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2026-05-07T19:59:55Z</dcterms:created>
  <dcterms:modified xsi:type="dcterms:W3CDTF">2026-05-07T19:59:55Z</dcterms:modified>
</cp:coreProperties>
</file>